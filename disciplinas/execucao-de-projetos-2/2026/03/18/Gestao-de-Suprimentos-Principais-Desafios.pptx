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Cabin"/>
      <p:regular r:id="rId15"/>
      <p:bold r:id="rId16"/>
      <p:italic r:id="rId17"/>
      <p:boldItalic r:id="rId18"/>
    </p:embeddedFont>
    <p:embeddedFont>
      <p:font typeface="Unbounde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nbounded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abin-regular.fntdata"/><Relationship Id="rId14" Type="http://schemas.openxmlformats.org/officeDocument/2006/relationships/slide" Target="slides/slide10.xml"/><Relationship Id="rId17" Type="http://schemas.openxmlformats.org/officeDocument/2006/relationships/font" Target="fonts/Cabin-italic.fntdata"/><Relationship Id="rId16" Type="http://schemas.openxmlformats.org/officeDocument/2006/relationships/font" Target="fonts/Cabin-bold.fntdata"/><Relationship Id="rId5" Type="http://schemas.openxmlformats.org/officeDocument/2006/relationships/slide" Target="slides/slide1.xml"/><Relationship Id="rId19" Type="http://schemas.openxmlformats.org/officeDocument/2006/relationships/font" Target="fonts/Unbounded-regular.fntdata"/><Relationship Id="rId6" Type="http://schemas.openxmlformats.org/officeDocument/2006/relationships/slide" Target="slides/slide2.xml"/><Relationship Id="rId18" Type="http://schemas.openxmlformats.org/officeDocument/2006/relationships/font" Target="fonts/Cabin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498733" y="1191320"/>
            <a:ext cx="13632900" cy="32841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1pPr>
            <a:lvl2pPr lvl="1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98720" y="4534600"/>
            <a:ext cx="13632900" cy="1268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98720" y="3441360"/>
            <a:ext cx="13632900" cy="13470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2pPr>
            <a:lvl3pPr lvl="2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3pPr>
            <a:lvl4pPr lvl="3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4pPr>
            <a:lvl5pPr lvl="4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5pPr>
            <a:lvl6pPr lvl="5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6pPr>
            <a:lvl7pPr lvl="6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7pPr>
            <a:lvl8pPr lvl="7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8pPr>
            <a:lvl9pPr lvl="8" algn="ctr">
              <a:spcBef>
                <a:spcPts val="0"/>
              </a:spcBef>
              <a:spcAft>
                <a:spcPts val="0"/>
              </a:spcAft>
              <a:buSzPts val="5800"/>
              <a:buNone/>
              <a:defRPr sz="5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98720" y="1843960"/>
            <a:ext cx="63999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7731840" y="1843960"/>
            <a:ext cx="6399900" cy="54663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Char char="●"/>
              <a:defRPr sz="22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98720" y="888960"/>
            <a:ext cx="4492800" cy="12090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498720" y="2223360"/>
            <a:ext cx="4492800" cy="5087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 sz="1900"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 sz="19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784400" y="720240"/>
            <a:ext cx="10188600" cy="65454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1pPr>
            <a:lvl2pPr lvl="1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7315200" y="-200"/>
            <a:ext cx="7315200" cy="82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424800" y="1973080"/>
            <a:ext cx="6472200" cy="23718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424800" y="4484920"/>
            <a:ext cx="6472200" cy="1976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7903200" y="1158520"/>
            <a:ext cx="6139200" cy="59121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412750" lvl="0" marL="457200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498720" y="6768920"/>
            <a:ext cx="9598200" cy="9681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498720" y="1769800"/>
            <a:ext cx="13632900" cy="31416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498720" y="5043560"/>
            <a:ext cx="13632900" cy="20814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 algn="ctr">
              <a:spcBef>
                <a:spcPts val="0"/>
              </a:spcBef>
              <a:spcAft>
                <a:spcPts val="0"/>
              </a:spcAft>
              <a:buSzPts val="2900"/>
              <a:buChar char="●"/>
              <a:defRPr/>
            </a:lvl1pPr>
            <a:lvl2pPr indent="-368300" lvl="1" marL="9144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indent="-368300" lvl="2" marL="13716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indent="-368300" lvl="3" marL="18288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indent="-368300" lvl="4" marL="22860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indent="-368300" lvl="5" marL="27432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indent="-368300" lvl="6" marL="32004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indent="-368300" lvl="7" marL="3657600" algn="ctr"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indent="-368300" lvl="8" marL="4114800" algn="ctr"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5" name="Google Shape;5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1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9" name="Google Shape;5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1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3" name="Google Shape;6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" name="Google Shape;6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1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1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5" name="Google Shape;7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1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9" name="Google Shape;7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1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3" name="Google Shape;8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2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7" name="Google Shape;8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2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1" name="Google Shape;9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397" cy="82296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2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4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98720" y="712040"/>
            <a:ext cx="13632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  <a:defRPr sz="4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98720" y="1843960"/>
            <a:ext cx="13632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2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900"/>
              <a:buChar char="●"/>
              <a:defRPr sz="2900">
                <a:solidFill>
                  <a:schemeClr val="dk2"/>
                </a:solidFill>
              </a:defRPr>
            </a:lvl1pPr>
            <a:lvl2pPr indent="-3683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  <a:defRPr sz="2200">
                <a:solidFill>
                  <a:schemeClr val="dk2"/>
                </a:solidFill>
              </a:defRPr>
            </a:lvl2pPr>
            <a:lvl3pPr indent="-3683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■"/>
              <a:defRPr sz="2200">
                <a:solidFill>
                  <a:schemeClr val="dk2"/>
                </a:solidFill>
              </a:defRPr>
            </a:lvl3pPr>
            <a:lvl4pPr indent="-3683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4pPr>
            <a:lvl5pPr indent="-3683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  <a:defRPr sz="2200">
                <a:solidFill>
                  <a:schemeClr val="dk2"/>
                </a:solidFill>
              </a:defRPr>
            </a:lvl5pPr>
            <a:lvl6pPr indent="-3683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■"/>
              <a:defRPr sz="2200">
                <a:solidFill>
                  <a:schemeClr val="dk2"/>
                </a:solidFill>
              </a:defRPr>
            </a:lvl6pPr>
            <a:lvl7pPr indent="-3683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  <a:defRPr sz="2200">
                <a:solidFill>
                  <a:schemeClr val="dk2"/>
                </a:solidFill>
              </a:defRPr>
            </a:lvl7pPr>
            <a:lvl8pPr indent="-3683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○"/>
              <a:defRPr sz="2200">
                <a:solidFill>
                  <a:schemeClr val="dk2"/>
                </a:solidFill>
              </a:defRPr>
            </a:lvl8pPr>
            <a:lvl9pPr indent="-3683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■"/>
              <a:defRPr sz="2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3555933" y="7461147"/>
            <a:ext cx="8778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r">
              <a:buNone/>
              <a:defRPr sz="1600">
                <a:solidFill>
                  <a:schemeClr val="dk2"/>
                </a:solidFill>
              </a:defRPr>
            </a:lvl1pPr>
            <a:lvl2pPr lvl="1" algn="r">
              <a:buNone/>
              <a:defRPr sz="1600">
                <a:solidFill>
                  <a:schemeClr val="dk2"/>
                </a:solidFill>
              </a:defRPr>
            </a:lvl2pPr>
            <a:lvl3pPr lvl="2" algn="r">
              <a:buNone/>
              <a:defRPr sz="1600">
                <a:solidFill>
                  <a:schemeClr val="dk2"/>
                </a:solidFill>
              </a:defRPr>
            </a:lvl3pPr>
            <a:lvl4pPr lvl="3" algn="r">
              <a:buNone/>
              <a:defRPr sz="1600">
                <a:solidFill>
                  <a:schemeClr val="dk2"/>
                </a:solidFill>
              </a:defRPr>
            </a:lvl4pPr>
            <a:lvl5pPr lvl="4" algn="r">
              <a:buNone/>
              <a:defRPr sz="1600">
                <a:solidFill>
                  <a:schemeClr val="dk2"/>
                </a:solidFill>
              </a:defRPr>
            </a:lvl5pPr>
            <a:lvl6pPr lvl="5" algn="r">
              <a:buNone/>
              <a:defRPr sz="1600">
                <a:solidFill>
                  <a:schemeClr val="dk2"/>
                </a:solidFill>
              </a:defRPr>
            </a:lvl6pPr>
            <a:lvl7pPr lvl="6" algn="r">
              <a:buNone/>
              <a:defRPr sz="1600">
                <a:solidFill>
                  <a:schemeClr val="dk2"/>
                </a:solidFill>
              </a:defRPr>
            </a:lvl7pPr>
            <a:lvl8pPr lvl="7" algn="r">
              <a:buNone/>
              <a:defRPr sz="1600">
                <a:solidFill>
                  <a:schemeClr val="dk2"/>
                </a:solidFill>
              </a:defRPr>
            </a:lvl8pPr>
            <a:lvl9pPr lvl="8" algn="r">
              <a:buNone/>
              <a:defRPr sz="16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2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/>
          <p:nvPr/>
        </p:nvSpPr>
        <p:spPr>
          <a:xfrm>
            <a:off x="837724" y="2979896"/>
            <a:ext cx="12954952" cy="140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Gestão de Suprimentos: Principais Desafios</a:t>
            </a:r>
            <a:endParaRPr b="0" i="0" sz="4400" u="none" cap="none" strike="noStrike"/>
          </a:p>
        </p:txBody>
      </p:sp>
      <p:sp>
        <p:nvSpPr>
          <p:cNvPr id="100" name="Google Shape;100;p23"/>
          <p:cNvSpPr/>
          <p:nvPr/>
        </p:nvSpPr>
        <p:spPr>
          <a:xfrm>
            <a:off x="837724" y="4866680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Compreendendo os obstáculos que impactam a eficiência operacional e como superá-los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/>
          <p:nvPr/>
        </p:nvSpPr>
        <p:spPr>
          <a:xfrm>
            <a:off x="837724" y="770572"/>
            <a:ext cx="11076384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O </a:t>
            </a:r>
            <a:r>
              <a:rPr lang="en-US" sz="440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q</a:t>
            </a: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ue </a:t>
            </a:r>
            <a:r>
              <a:rPr lang="en-US" sz="440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é</a:t>
            </a: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Gestão de Suprimentos?</a:t>
            </a:r>
            <a:endParaRPr b="0" i="0" sz="4400" u="none" cap="none" strike="noStrike"/>
          </a:p>
        </p:txBody>
      </p:sp>
      <p:sp>
        <p:nvSpPr>
          <p:cNvPr id="107" name="Google Shape;107;p24"/>
          <p:cNvSpPr/>
          <p:nvPr/>
        </p:nvSpPr>
        <p:spPr>
          <a:xfrm>
            <a:off x="837725" y="2048950"/>
            <a:ext cx="7053600" cy="22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 gestão de suprimentos engloba todos os processos relacionados ao fluxo de materiais, desde a aquisição de matérias-primas até a entrega final ao cliente. É o coração operacional da empresa, coordenando compras, estoques, logística e distribuição.</a:t>
            </a:r>
            <a:endParaRPr b="0" i="0" sz="1850" u="none" cap="none" strike="noStrike"/>
          </a:p>
        </p:txBody>
      </p:sp>
      <p:sp>
        <p:nvSpPr>
          <p:cNvPr id="108" name="Google Shape;108;p24"/>
          <p:cNvSpPr/>
          <p:nvPr/>
        </p:nvSpPr>
        <p:spPr>
          <a:xfrm>
            <a:off x="8366275" y="2048953"/>
            <a:ext cx="5433900" cy="3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Uma gestão eficiente garante que os produtos certos estejam no lugar certo, na hora certa e pelo menor custo possível, impactando diretamente a competitividade e a rentabilidade do negócio.</a:t>
            </a:r>
            <a:endParaRPr b="0" i="0" sz="1850" u="none" cap="none" strike="noStrike"/>
          </a:p>
        </p:txBody>
      </p:sp>
      <p:sp>
        <p:nvSpPr>
          <p:cNvPr id="109" name="Google Shape;109;p24"/>
          <p:cNvSpPr/>
          <p:nvPr/>
        </p:nvSpPr>
        <p:spPr>
          <a:xfrm>
            <a:off x="5583912" y="4454723"/>
            <a:ext cx="8216265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None/>
            </a:pPr>
            <a:r>
              <a:t/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/>
          <p:nvPr/>
        </p:nvSpPr>
        <p:spPr>
          <a:xfrm>
            <a:off x="837843" y="897969"/>
            <a:ext cx="12954714" cy="1173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2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50"/>
              <a:buFont typeface="Unbounded"/>
              <a:buNone/>
            </a:pPr>
            <a:r>
              <a:rPr b="0" i="0" lang="en-US" sz="36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Dor #1: Falta de Visibilidade e Controle de Estoque</a:t>
            </a:r>
            <a:endParaRPr b="0" i="0" sz="3650" u="none" cap="none" strike="noStrike"/>
          </a:p>
        </p:txBody>
      </p:sp>
      <p:sp>
        <p:nvSpPr>
          <p:cNvPr id="116" name="Google Shape;116;p25"/>
          <p:cNvSpPr/>
          <p:nvPr/>
        </p:nvSpPr>
        <p:spPr>
          <a:xfrm>
            <a:off x="837843" y="2403634"/>
            <a:ext cx="6394252" cy="2141220"/>
          </a:xfrm>
          <a:prstGeom prst="roundRect">
            <a:avLst>
              <a:gd fmla="val 139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5"/>
          <p:cNvSpPr/>
          <p:nvPr/>
        </p:nvSpPr>
        <p:spPr>
          <a:xfrm>
            <a:off x="1037272" y="2603063"/>
            <a:ext cx="598408" cy="598408"/>
          </a:xfrm>
          <a:prstGeom prst="roundRect">
            <a:avLst>
              <a:gd fmla="val 15279016" name="adj"/>
            </a:avLst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1817" y="2767608"/>
            <a:ext cx="269200" cy="2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5"/>
          <p:cNvSpPr/>
          <p:nvPr/>
        </p:nvSpPr>
        <p:spPr>
          <a:xfrm>
            <a:off x="1037272" y="3367683"/>
            <a:ext cx="2346841" cy="293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Unbounded"/>
              <a:buNone/>
            </a:pPr>
            <a:r>
              <a:rPr b="0" i="0" lang="en-US" sz="18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Estoque Invisível</a:t>
            </a:r>
            <a:endParaRPr b="0" i="0" sz="1800" u="none" cap="none" strike="noStrike"/>
          </a:p>
        </p:txBody>
      </p:sp>
      <p:sp>
        <p:nvSpPr>
          <p:cNvPr id="120" name="Google Shape;120;p25"/>
          <p:cNvSpPr/>
          <p:nvPr/>
        </p:nvSpPr>
        <p:spPr>
          <a:xfrm>
            <a:off x="1037272" y="3760589"/>
            <a:ext cx="5995392" cy="584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Sistema manual ou desatualizado impede ver o nível real de itens em tempo real</a:t>
            </a:r>
            <a:endParaRPr b="0" i="0" sz="1550" u="none" cap="none" strike="noStrike"/>
          </a:p>
        </p:txBody>
      </p:sp>
      <p:sp>
        <p:nvSpPr>
          <p:cNvPr id="121" name="Google Shape;121;p25"/>
          <p:cNvSpPr/>
          <p:nvPr/>
        </p:nvSpPr>
        <p:spPr>
          <a:xfrm>
            <a:off x="7398306" y="2403634"/>
            <a:ext cx="6394252" cy="2141220"/>
          </a:xfrm>
          <a:prstGeom prst="roundRect">
            <a:avLst>
              <a:gd fmla="val 139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5"/>
          <p:cNvSpPr/>
          <p:nvPr/>
        </p:nvSpPr>
        <p:spPr>
          <a:xfrm>
            <a:off x="7597735" y="2603063"/>
            <a:ext cx="598408" cy="598408"/>
          </a:xfrm>
          <a:prstGeom prst="roundRect">
            <a:avLst>
              <a:gd fmla="val 15279016" name="adj"/>
            </a:avLst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62280" y="2767608"/>
            <a:ext cx="269200" cy="2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5"/>
          <p:cNvSpPr/>
          <p:nvPr/>
        </p:nvSpPr>
        <p:spPr>
          <a:xfrm>
            <a:off x="7597735" y="3367683"/>
            <a:ext cx="3119557" cy="293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Unbounded"/>
              <a:buNone/>
            </a:pPr>
            <a:r>
              <a:rPr b="0" i="0" lang="en-US" sz="18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Rupturas Inesperadas</a:t>
            </a:r>
            <a:endParaRPr b="0" i="0" sz="1800" u="none" cap="none" strike="noStrike"/>
          </a:p>
        </p:txBody>
      </p:sp>
      <p:sp>
        <p:nvSpPr>
          <p:cNvPr id="125" name="Google Shape;125;p25"/>
          <p:cNvSpPr/>
          <p:nvPr/>
        </p:nvSpPr>
        <p:spPr>
          <a:xfrm>
            <a:off x="7597735" y="3760589"/>
            <a:ext cx="5995392" cy="292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Falta de visibilidade causa faltas de produto e perda de vendas</a:t>
            </a:r>
            <a:endParaRPr b="0" i="0" sz="1550" u="none" cap="none" strike="noStrike"/>
          </a:p>
        </p:txBody>
      </p:sp>
      <p:sp>
        <p:nvSpPr>
          <p:cNvPr id="126" name="Google Shape;126;p25"/>
          <p:cNvSpPr/>
          <p:nvPr/>
        </p:nvSpPr>
        <p:spPr>
          <a:xfrm>
            <a:off x="837843" y="4711065"/>
            <a:ext cx="6394252" cy="2141220"/>
          </a:xfrm>
          <a:prstGeom prst="roundRect">
            <a:avLst>
              <a:gd fmla="val 139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5"/>
          <p:cNvSpPr/>
          <p:nvPr/>
        </p:nvSpPr>
        <p:spPr>
          <a:xfrm>
            <a:off x="1037272" y="4910495"/>
            <a:ext cx="598408" cy="598408"/>
          </a:xfrm>
          <a:prstGeom prst="roundRect">
            <a:avLst>
              <a:gd fmla="val 15279016" name="adj"/>
            </a:avLst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1817" y="5075039"/>
            <a:ext cx="269200" cy="2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/>
          <p:nvPr/>
        </p:nvSpPr>
        <p:spPr>
          <a:xfrm>
            <a:off x="1037272" y="5675114"/>
            <a:ext cx="2804160" cy="293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Unbounded"/>
              <a:buNone/>
            </a:pPr>
            <a:r>
              <a:rPr b="0" i="0" lang="en-US" sz="18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Excesso de Estoque</a:t>
            </a:r>
            <a:endParaRPr b="0" i="0" sz="1800" u="none" cap="none" strike="noStrike"/>
          </a:p>
        </p:txBody>
      </p:sp>
      <p:sp>
        <p:nvSpPr>
          <p:cNvPr id="130" name="Google Shape;130;p25"/>
          <p:cNvSpPr/>
          <p:nvPr/>
        </p:nvSpPr>
        <p:spPr>
          <a:xfrm>
            <a:off x="1037272" y="6068020"/>
            <a:ext cx="5995392" cy="584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Compras baseadas em palpite geram capital imobilizado e produtos obsoletos</a:t>
            </a:r>
            <a:endParaRPr b="0" i="0" sz="1550" u="none" cap="none" strike="noStrike"/>
          </a:p>
        </p:txBody>
      </p:sp>
      <p:sp>
        <p:nvSpPr>
          <p:cNvPr id="131" name="Google Shape;131;p25"/>
          <p:cNvSpPr/>
          <p:nvPr/>
        </p:nvSpPr>
        <p:spPr>
          <a:xfrm>
            <a:off x="7398306" y="4711065"/>
            <a:ext cx="6394252" cy="2141220"/>
          </a:xfrm>
          <a:prstGeom prst="roundRect">
            <a:avLst>
              <a:gd fmla="val 139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5"/>
          <p:cNvSpPr/>
          <p:nvPr/>
        </p:nvSpPr>
        <p:spPr>
          <a:xfrm>
            <a:off x="7597735" y="4910495"/>
            <a:ext cx="598408" cy="598408"/>
          </a:xfrm>
          <a:prstGeom prst="roundRect">
            <a:avLst>
              <a:gd fmla="val 15279016" name="adj"/>
            </a:avLst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62280" y="5075039"/>
            <a:ext cx="269200" cy="26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/>
          <p:nvPr/>
        </p:nvSpPr>
        <p:spPr>
          <a:xfrm>
            <a:off x="7597735" y="5675114"/>
            <a:ext cx="2348389" cy="293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Unbounded"/>
              <a:buNone/>
            </a:pPr>
            <a:r>
              <a:rPr b="0" i="0" lang="en-US" sz="18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Custos Elevados</a:t>
            </a:r>
            <a:endParaRPr b="0" i="0" sz="1800" u="none" cap="none" strike="noStrike"/>
          </a:p>
        </p:txBody>
      </p:sp>
      <p:sp>
        <p:nvSpPr>
          <p:cNvPr id="135" name="Google Shape;135;p25"/>
          <p:cNvSpPr/>
          <p:nvPr/>
        </p:nvSpPr>
        <p:spPr>
          <a:xfrm>
            <a:off x="7597735" y="6068020"/>
            <a:ext cx="5995392" cy="584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rPr b="0" i="0" lang="en-US" sz="15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Armazenagem excessiva, obsolescência e desperdício aumentam custos operacionais</a:t>
            </a:r>
            <a:endParaRPr b="0" i="0" sz="1550" u="none" cap="none" strike="noStrike"/>
          </a:p>
        </p:txBody>
      </p:sp>
      <p:sp>
        <p:nvSpPr>
          <p:cNvPr id="136" name="Google Shape;136;p25"/>
          <p:cNvSpPr/>
          <p:nvPr/>
        </p:nvSpPr>
        <p:spPr>
          <a:xfrm>
            <a:off x="837843" y="7039213"/>
            <a:ext cx="12954714" cy="292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387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550"/>
              <a:buFont typeface="Cabin"/>
              <a:buNone/>
            </a:pPr>
            <a:r>
              <a:t/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/>
          <p:nvPr/>
        </p:nvSpPr>
        <p:spPr>
          <a:xfrm>
            <a:off x="837724" y="2063829"/>
            <a:ext cx="12667893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Dor #2: Problemas com Fornecedores</a:t>
            </a:r>
            <a:endParaRPr b="0" i="0" sz="4400" u="none" cap="none" strike="noStrike"/>
          </a:p>
        </p:txBody>
      </p:sp>
      <p:sp>
        <p:nvSpPr>
          <p:cNvPr id="143" name="Google Shape;143;p26"/>
          <p:cNvSpPr/>
          <p:nvPr/>
        </p:nvSpPr>
        <p:spPr>
          <a:xfrm>
            <a:off x="837724" y="3246596"/>
            <a:ext cx="4158734" cy="2919174"/>
          </a:xfrm>
          <a:prstGeom prst="roundRect">
            <a:avLst>
              <a:gd fmla="val 5012" name="adj"/>
            </a:avLst>
          </a:prstGeom>
          <a:solidFill>
            <a:srgbClr val="112836"/>
          </a:solidFill>
          <a:ln cap="flat" cmpd="sng" w="30475">
            <a:solidFill>
              <a:srgbClr val="496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6"/>
          <p:cNvSpPr/>
          <p:nvPr/>
        </p:nvSpPr>
        <p:spPr>
          <a:xfrm>
            <a:off x="807244" y="3246596"/>
            <a:ext cx="121920" cy="2919174"/>
          </a:xfrm>
          <a:prstGeom prst="roundRect">
            <a:avLst>
              <a:gd fmla="val 29451" name="adj"/>
            </a:avLst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6"/>
          <p:cNvSpPr/>
          <p:nvPr/>
        </p:nvSpPr>
        <p:spPr>
          <a:xfrm>
            <a:off x="1198959" y="3516392"/>
            <a:ext cx="3499247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Atrasos Recorrentes</a:t>
            </a:r>
            <a:endParaRPr b="0" i="0" sz="2200" u="none" cap="none" strike="noStrike"/>
          </a:p>
        </p:txBody>
      </p:sp>
      <p:sp>
        <p:nvSpPr>
          <p:cNvPr id="146" name="Google Shape;146;p26"/>
          <p:cNvSpPr/>
          <p:nvPr/>
        </p:nvSpPr>
        <p:spPr>
          <a:xfrm>
            <a:off x="1198959" y="4011930"/>
            <a:ext cx="3527703" cy="15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Fornecedores não cumprem prazos acordados, causando interrupções na produção e atrasos na entrega ao cliente final.</a:t>
            </a:r>
            <a:endParaRPr b="0" i="0" sz="1850" u="none" cap="none" strike="noStrike"/>
          </a:p>
        </p:txBody>
      </p:sp>
      <p:sp>
        <p:nvSpPr>
          <p:cNvPr id="147" name="Google Shape;147;p26"/>
          <p:cNvSpPr/>
          <p:nvPr/>
        </p:nvSpPr>
        <p:spPr>
          <a:xfrm>
            <a:off x="5235773" y="3246596"/>
            <a:ext cx="4158734" cy="2919174"/>
          </a:xfrm>
          <a:prstGeom prst="roundRect">
            <a:avLst>
              <a:gd fmla="val 5012" name="adj"/>
            </a:avLst>
          </a:prstGeom>
          <a:solidFill>
            <a:srgbClr val="112836"/>
          </a:solidFill>
          <a:ln cap="flat" cmpd="sng" w="30475">
            <a:solidFill>
              <a:srgbClr val="496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6"/>
          <p:cNvSpPr/>
          <p:nvPr/>
        </p:nvSpPr>
        <p:spPr>
          <a:xfrm>
            <a:off x="5205293" y="3246596"/>
            <a:ext cx="121920" cy="2919174"/>
          </a:xfrm>
          <a:prstGeom prst="roundRect">
            <a:avLst>
              <a:gd fmla="val 29451" name="adj"/>
            </a:avLst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6"/>
          <p:cNvSpPr/>
          <p:nvPr/>
        </p:nvSpPr>
        <p:spPr>
          <a:xfrm>
            <a:off x="5597009" y="3516392"/>
            <a:ext cx="3527703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Inconsistência de Qualidade</a:t>
            </a:r>
            <a:endParaRPr b="0" i="0" sz="2200" u="none" cap="none" strike="noStrike"/>
          </a:p>
        </p:txBody>
      </p:sp>
      <p:sp>
        <p:nvSpPr>
          <p:cNvPr id="150" name="Google Shape;150;p26"/>
          <p:cNvSpPr/>
          <p:nvPr/>
        </p:nvSpPr>
        <p:spPr>
          <a:xfrm>
            <a:off x="5597009" y="4363879"/>
            <a:ext cx="3527703" cy="15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Variação na qualidade dos materiais recebidos resulta em retrabalho, devoluções e insatisfação do cliente.</a:t>
            </a:r>
            <a:endParaRPr b="0" i="0" sz="1850" u="none" cap="none" strike="noStrike"/>
          </a:p>
        </p:txBody>
      </p:sp>
      <p:sp>
        <p:nvSpPr>
          <p:cNvPr id="151" name="Google Shape;151;p26"/>
          <p:cNvSpPr/>
          <p:nvPr/>
        </p:nvSpPr>
        <p:spPr>
          <a:xfrm>
            <a:off x="9633823" y="3246596"/>
            <a:ext cx="4158853" cy="2919174"/>
          </a:xfrm>
          <a:prstGeom prst="roundRect">
            <a:avLst>
              <a:gd fmla="val 5012" name="adj"/>
            </a:avLst>
          </a:prstGeom>
          <a:solidFill>
            <a:srgbClr val="112836"/>
          </a:solidFill>
          <a:ln cap="flat" cmpd="sng" w="30475">
            <a:solidFill>
              <a:srgbClr val="496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6"/>
          <p:cNvSpPr/>
          <p:nvPr/>
        </p:nvSpPr>
        <p:spPr>
          <a:xfrm>
            <a:off x="9603343" y="3246596"/>
            <a:ext cx="121920" cy="2919174"/>
          </a:xfrm>
          <a:prstGeom prst="roundRect">
            <a:avLst>
              <a:gd fmla="val 29451" name="adj"/>
            </a:avLst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6"/>
          <p:cNvSpPr/>
          <p:nvPr/>
        </p:nvSpPr>
        <p:spPr>
          <a:xfrm>
            <a:off x="9995059" y="3516392"/>
            <a:ext cx="3431619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Flutuações de Preço</a:t>
            </a:r>
            <a:endParaRPr b="0" i="0" sz="2200" u="none" cap="none" strike="noStrike"/>
          </a:p>
        </p:txBody>
      </p:sp>
      <p:sp>
        <p:nvSpPr>
          <p:cNvPr id="154" name="Google Shape;154;p26"/>
          <p:cNvSpPr/>
          <p:nvPr/>
        </p:nvSpPr>
        <p:spPr>
          <a:xfrm>
            <a:off x="9995059" y="4011930"/>
            <a:ext cx="3527822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Custos imprevisíveis dificultam o planejamento financeiro e afetam a margem de lucro da empresa.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/>
          <p:nvPr/>
        </p:nvSpPr>
        <p:spPr>
          <a:xfrm>
            <a:off x="837724" y="1940481"/>
            <a:ext cx="12954952" cy="140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Dor #3: Processos Manuais e Falta de Tecnologia</a:t>
            </a:r>
            <a:endParaRPr b="0" i="0" sz="4400" u="none" cap="none" strike="noStrike"/>
          </a:p>
        </p:txBody>
      </p:sp>
      <p:sp>
        <p:nvSpPr>
          <p:cNvPr id="161" name="Google Shape;161;p27"/>
          <p:cNvSpPr/>
          <p:nvPr/>
        </p:nvSpPr>
        <p:spPr>
          <a:xfrm>
            <a:off x="837724" y="3827264"/>
            <a:ext cx="538520" cy="538520"/>
          </a:xfrm>
          <a:prstGeom prst="roundRect">
            <a:avLst>
              <a:gd fmla="val 6668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7"/>
          <p:cNvSpPr/>
          <p:nvPr/>
        </p:nvSpPr>
        <p:spPr>
          <a:xfrm>
            <a:off x="1615559" y="3909536"/>
            <a:ext cx="3341013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Erros Humanos Frequentes</a:t>
            </a:r>
            <a:endParaRPr b="0" i="0" sz="2200" u="none" cap="none" strike="noStrike"/>
          </a:p>
        </p:txBody>
      </p:sp>
      <p:sp>
        <p:nvSpPr>
          <p:cNvPr id="163" name="Google Shape;163;p27"/>
          <p:cNvSpPr/>
          <p:nvPr/>
        </p:nvSpPr>
        <p:spPr>
          <a:xfrm>
            <a:off x="1615559" y="4757023"/>
            <a:ext cx="3341013" cy="15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Digitação manual de dados aumenta drasticamente a taxa de erros em pedidos, estoques e faturamento</a:t>
            </a:r>
            <a:endParaRPr b="0" i="0" sz="1850" u="none" cap="none" strike="noStrike"/>
          </a:p>
        </p:txBody>
      </p:sp>
      <p:sp>
        <p:nvSpPr>
          <p:cNvPr id="164" name="Google Shape;164;p27"/>
          <p:cNvSpPr/>
          <p:nvPr/>
        </p:nvSpPr>
        <p:spPr>
          <a:xfrm>
            <a:off x="5255776" y="3827264"/>
            <a:ext cx="538520" cy="538520"/>
          </a:xfrm>
          <a:prstGeom prst="roundRect">
            <a:avLst>
              <a:gd fmla="val 6668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7"/>
          <p:cNvSpPr/>
          <p:nvPr/>
        </p:nvSpPr>
        <p:spPr>
          <a:xfrm>
            <a:off x="6033611" y="3909536"/>
            <a:ext cx="3341013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Perda de Tempo Valioso</a:t>
            </a:r>
            <a:endParaRPr b="0" i="0" sz="2200" u="none" cap="none" strike="noStrike"/>
          </a:p>
        </p:txBody>
      </p:sp>
      <p:sp>
        <p:nvSpPr>
          <p:cNvPr id="166" name="Google Shape;166;p27"/>
          <p:cNvSpPr/>
          <p:nvPr/>
        </p:nvSpPr>
        <p:spPr>
          <a:xfrm>
            <a:off x="6033611" y="4757023"/>
            <a:ext cx="334101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Colaboradores gastam horas em tarefas repetitivas que poderiam ser automatizadas</a:t>
            </a:r>
            <a:endParaRPr b="0" i="0" sz="1850" u="none" cap="none" strike="noStrike"/>
          </a:p>
        </p:txBody>
      </p:sp>
      <p:sp>
        <p:nvSpPr>
          <p:cNvPr id="167" name="Google Shape;167;p27"/>
          <p:cNvSpPr/>
          <p:nvPr/>
        </p:nvSpPr>
        <p:spPr>
          <a:xfrm>
            <a:off x="9673828" y="3827264"/>
            <a:ext cx="538520" cy="538520"/>
          </a:xfrm>
          <a:prstGeom prst="roundRect">
            <a:avLst>
              <a:gd fmla="val 6668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7"/>
          <p:cNvSpPr/>
          <p:nvPr/>
        </p:nvSpPr>
        <p:spPr>
          <a:xfrm>
            <a:off x="10451663" y="3909536"/>
            <a:ext cx="2990017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Falta de Agilidade</a:t>
            </a:r>
            <a:endParaRPr b="0" i="0" sz="2200" u="none" cap="none" strike="noStrike"/>
          </a:p>
        </p:txBody>
      </p:sp>
      <p:sp>
        <p:nvSpPr>
          <p:cNvPr id="169" name="Google Shape;169;p27"/>
          <p:cNvSpPr/>
          <p:nvPr/>
        </p:nvSpPr>
        <p:spPr>
          <a:xfrm>
            <a:off x="10451663" y="4405074"/>
            <a:ext cx="3341013" cy="15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Processos lentos impedem resposta rápida às mudanças do mercado e demandas dos clientes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/>
          <p:nvPr/>
        </p:nvSpPr>
        <p:spPr>
          <a:xfrm>
            <a:off x="837724" y="1807131"/>
            <a:ext cx="11871603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Dor #4: Custos Logísticos Elevados</a:t>
            </a:r>
            <a:endParaRPr b="0" i="0" sz="4400" u="none" cap="none" strike="noStrike"/>
          </a:p>
        </p:txBody>
      </p:sp>
      <p:sp>
        <p:nvSpPr>
          <p:cNvPr id="176" name="Google Shape;176;p28"/>
          <p:cNvSpPr/>
          <p:nvPr/>
        </p:nvSpPr>
        <p:spPr>
          <a:xfrm>
            <a:off x="837724" y="2989898"/>
            <a:ext cx="4158734" cy="3432572"/>
          </a:xfrm>
          <a:prstGeom prst="roundRect">
            <a:avLst>
              <a:gd fmla="val 1046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8"/>
          <p:cNvSpPr/>
          <p:nvPr/>
        </p:nvSpPr>
        <p:spPr>
          <a:xfrm>
            <a:off x="1077039" y="3229213"/>
            <a:ext cx="718066" cy="718066"/>
          </a:xfrm>
          <a:prstGeom prst="roundRect">
            <a:avLst>
              <a:gd fmla="val 12732932" name="adj"/>
            </a:avLst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8" name="Google Shape;17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4445" y="3426619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/>
          <p:nvPr/>
        </p:nvSpPr>
        <p:spPr>
          <a:xfrm>
            <a:off x="1077039" y="4186595"/>
            <a:ext cx="3022402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Rotas Ineficientes</a:t>
            </a:r>
            <a:endParaRPr b="0" i="0" sz="2200" u="none" cap="none" strike="noStrike"/>
          </a:p>
        </p:txBody>
      </p:sp>
      <p:sp>
        <p:nvSpPr>
          <p:cNvPr id="180" name="Google Shape;180;p28"/>
          <p:cNvSpPr/>
          <p:nvPr/>
        </p:nvSpPr>
        <p:spPr>
          <a:xfrm>
            <a:off x="1077039" y="4682133"/>
            <a:ext cx="368010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Roteamento subótimo aumenta consumo de combustível e tempo de entrega</a:t>
            </a:r>
            <a:endParaRPr b="0" i="0" sz="1850" u="none" cap="none" strike="noStrike"/>
          </a:p>
        </p:txBody>
      </p:sp>
      <p:sp>
        <p:nvSpPr>
          <p:cNvPr id="181" name="Google Shape;181;p28"/>
          <p:cNvSpPr/>
          <p:nvPr/>
        </p:nvSpPr>
        <p:spPr>
          <a:xfrm>
            <a:off x="5235773" y="2989898"/>
            <a:ext cx="4158734" cy="3432572"/>
          </a:xfrm>
          <a:prstGeom prst="roundRect">
            <a:avLst>
              <a:gd fmla="val 1046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8"/>
          <p:cNvSpPr/>
          <p:nvPr/>
        </p:nvSpPr>
        <p:spPr>
          <a:xfrm>
            <a:off x="5475089" y="3229213"/>
            <a:ext cx="718066" cy="718066"/>
          </a:xfrm>
          <a:prstGeom prst="roundRect">
            <a:avLst>
              <a:gd fmla="val 12732932" name="adj"/>
            </a:avLst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2495" y="3426619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8"/>
          <p:cNvSpPr/>
          <p:nvPr/>
        </p:nvSpPr>
        <p:spPr>
          <a:xfrm>
            <a:off x="5475089" y="4186595"/>
            <a:ext cx="3680103" cy="7038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Armazenagem Excessiva</a:t>
            </a:r>
            <a:endParaRPr b="0" i="0" sz="2200" u="none" cap="none" strike="noStrike"/>
          </a:p>
        </p:txBody>
      </p:sp>
      <p:sp>
        <p:nvSpPr>
          <p:cNvPr id="185" name="Google Shape;185;p28"/>
          <p:cNvSpPr/>
          <p:nvPr/>
        </p:nvSpPr>
        <p:spPr>
          <a:xfrm>
            <a:off x="5475089" y="5034082"/>
            <a:ext cx="368010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Depósitos superdimensionados ou mal posicionados elevam custos de manutenção</a:t>
            </a:r>
            <a:endParaRPr b="0" i="0" sz="1850" u="none" cap="none" strike="noStrike"/>
          </a:p>
        </p:txBody>
      </p:sp>
      <p:sp>
        <p:nvSpPr>
          <p:cNvPr id="186" name="Google Shape;186;p28"/>
          <p:cNvSpPr/>
          <p:nvPr/>
        </p:nvSpPr>
        <p:spPr>
          <a:xfrm>
            <a:off x="9633823" y="2989898"/>
            <a:ext cx="4158853" cy="3432572"/>
          </a:xfrm>
          <a:prstGeom prst="roundRect">
            <a:avLst>
              <a:gd fmla="val 1046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8"/>
          <p:cNvSpPr/>
          <p:nvPr/>
        </p:nvSpPr>
        <p:spPr>
          <a:xfrm>
            <a:off x="9873139" y="3229213"/>
            <a:ext cx="718066" cy="718066"/>
          </a:xfrm>
          <a:prstGeom prst="roundRect">
            <a:avLst>
              <a:gd fmla="val 12732932" name="adj"/>
            </a:avLst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0544" y="3426619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8"/>
          <p:cNvSpPr/>
          <p:nvPr/>
        </p:nvSpPr>
        <p:spPr>
          <a:xfrm>
            <a:off x="9873139" y="4186595"/>
            <a:ext cx="3303270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Falta de Integração</a:t>
            </a:r>
            <a:endParaRPr b="0" i="0" sz="2200" u="none" cap="none" strike="noStrike"/>
          </a:p>
        </p:txBody>
      </p:sp>
      <p:sp>
        <p:nvSpPr>
          <p:cNvPr id="190" name="Google Shape;190;p28"/>
          <p:cNvSpPr/>
          <p:nvPr/>
        </p:nvSpPr>
        <p:spPr>
          <a:xfrm>
            <a:off x="9873139" y="4682133"/>
            <a:ext cx="3680222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Processos desconectados impedem otimização do fluxo completo de materiais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/>
          <p:nvPr/>
        </p:nvSpPr>
        <p:spPr>
          <a:xfrm>
            <a:off x="837724" y="1631037"/>
            <a:ext cx="12954952" cy="140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Dor #5: Riscos de Compliance e Alinhamento Estratégico</a:t>
            </a:r>
            <a:endParaRPr b="0" i="0" sz="4400" u="none" cap="none" strike="noStrike"/>
          </a:p>
        </p:txBody>
      </p:sp>
      <p:sp>
        <p:nvSpPr>
          <p:cNvPr id="197" name="Google Shape;197;p29"/>
          <p:cNvSpPr/>
          <p:nvPr/>
        </p:nvSpPr>
        <p:spPr>
          <a:xfrm>
            <a:off x="837724" y="3517821"/>
            <a:ext cx="4158734" cy="3080623"/>
          </a:xfrm>
          <a:prstGeom prst="roundRect">
            <a:avLst>
              <a:gd fmla="val 1166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9"/>
          <p:cNvSpPr/>
          <p:nvPr/>
        </p:nvSpPr>
        <p:spPr>
          <a:xfrm>
            <a:off x="1077039" y="3757136"/>
            <a:ext cx="718066" cy="718066"/>
          </a:xfrm>
          <a:prstGeom prst="roundRect">
            <a:avLst>
              <a:gd fmla="val 12732932" name="adj"/>
            </a:avLst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9" name="Google Shape;19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4445" y="3954542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9"/>
          <p:cNvSpPr/>
          <p:nvPr/>
        </p:nvSpPr>
        <p:spPr>
          <a:xfrm>
            <a:off x="1077039" y="4714518"/>
            <a:ext cx="3219212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Não Conformidade</a:t>
            </a:r>
            <a:endParaRPr b="0" i="0" sz="2200" u="none" cap="none" strike="noStrike"/>
          </a:p>
        </p:txBody>
      </p:sp>
      <p:sp>
        <p:nvSpPr>
          <p:cNvPr id="201" name="Google Shape;201;p29"/>
          <p:cNvSpPr/>
          <p:nvPr/>
        </p:nvSpPr>
        <p:spPr>
          <a:xfrm>
            <a:off x="1077039" y="5210056"/>
            <a:ext cx="368010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Falta de rastreabilidade e documentação adequada pode gerar multas e penalidades legais</a:t>
            </a:r>
            <a:endParaRPr b="0" i="0" sz="1850" u="none" cap="none" strike="noStrike"/>
          </a:p>
        </p:txBody>
      </p:sp>
      <p:sp>
        <p:nvSpPr>
          <p:cNvPr id="202" name="Google Shape;202;p29"/>
          <p:cNvSpPr/>
          <p:nvPr/>
        </p:nvSpPr>
        <p:spPr>
          <a:xfrm>
            <a:off x="5235773" y="3517821"/>
            <a:ext cx="4158734" cy="3080623"/>
          </a:xfrm>
          <a:prstGeom prst="roundRect">
            <a:avLst>
              <a:gd fmla="val 1166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9"/>
          <p:cNvSpPr/>
          <p:nvPr/>
        </p:nvSpPr>
        <p:spPr>
          <a:xfrm>
            <a:off x="5475089" y="3757136"/>
            <a:ext cx="718066" cy="718066"/>
          </a:xfrm>
          <a:prstGeom prst="roundRect">
            <a:avLst>
              <a:gd fmla="val 12732932" name="adj"/>
            </a:avLst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4" name="Google Shape;20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2495" y="3954542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9"/>
          <p:cNvSpPr/>
          <p:nvPr/>
        </p:nvSpPr>
        <p:spPr>
          <a:xfrm>
            <a:off x="5475089" y="4714518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Desalinhamento</a:t>
            </a:r>
            <a:endParaRPr b="0" i="0" sz="2200" u="none" cap="none" strike="noStrike"/>
          </a:p>
        </p:txBody>
      </p:sp>
      <p:sp>
        <p:nvSpPr>
          <p:cNvPr id="206" name="Google Shape;206;p29"/>
          <p:cNvSpPr/>
          <p:nvPr/>
        </p:nvSpPr>
        <p:spPr>
          <a:xfrm>
            <a:off x="5475089" y="5210056"/>
            <a:ext cx="368010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Gestão operacional desconectada da estratégia empresarial resulta em ações contraditórias</a:t>
            </a:r>
            <a:endParaRPr b="0" i="0" sz="1850" u="none" cap="none" strike="noStrike"/>
          </a:p>
        </p:txBody>
      </p:sp>
      <p:sp>
        <p:nvSpPr>
          <p:cNvPr id="207" name="Google Shape;207;p29"/>
          <p:cNvSpPr/>
          <p:nvPr/>
        </p:nvSpPr>
        <p:spPr>
          <a:xfrm>
            <a:off x="9633823" y="3517821"/>
            <a:ext cx="4158853" cy="3080623"/>
          </a:xfrm>
          <a:prstGeom prst="roundRect">
            <a:avLst>
              <a:gd fmla="val 1166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9"/>
          <p:cNvSpPr/>
          <p:nvPr/>
        </p:nvSpPr>
        <p:spPr>
          <a:xfrm>
            <a:off x="9873139" y="3757136"/>
            <a:ext cx="718066" cy="718066"/>
          </a:xfrm>
          <a:prstGeom prst="roundRect">
            <a:avLst>
              <a:gd fmla="val 12732932" name="adj"/>
            </a:avLst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" name="Google Shape;20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0544" y="3954542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9"/>
          <p:cNvSpPr/>
          <p:nvPr/>
        </p:nvSpPr>
        <p:spPr>
          <a:xfrm>
            <a:off x="9873139" y="4714518"/>
            <a:ext cx="3224808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Exposição a Riscos</a:t>
            </a:r>
            <a:endParaRPr b="0" i="0" sz="2200" u="none" cap="none" strike="noStrike"/>
          </a:p>
        </p:txBody>
      </p:sp>
      <p:sp>
        <p:nvSpPr>
          <p:cNvPr id="211" name="Google Shape;211;p29"/>
          <p:cNvSpPr/>
          <p:nvPr/>
        </p:nvSpPr>
        <p:spPr>
          <a:xfrm>
            <a:off x="9873139" y="5210056"/>
            <a:ext cx="3680222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Ausência de políticas claras aumenta vulnerabilidade a fraudes e irregularidades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/>
          <p:nvPr/>
        </p:nvSpPr>
        <p:spPr>
          <a:xfrm>
            <a:off x="837724" y="1983105"/>
            <a:ext cx="9321522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Impacto Geral na Operação</a:t>
            </a:r>
            <a:endParaRPr b="0" i="0" sz="4400" u="none" cap="none" strike="noStrike"/>
          </a:p>
        </p:txBody>
      </p:sp>
      <p:sp>
        <p:nvSpPr>
          <p:cNvPr id="218" name="Google Shape;218;p30"/>
          <p:cNvSpPr/>
          <p:nvPr/>
        </p:nvSpPr>
        <p:spPr>
          <a:xfrm>
            <a:off x="837724" y="3165872"/>
            <a:ext cx="4158734" cy="3080623"/>
          </a:xfrm>
          <a:prstGeom prst="roundRect">
            <a:avLst>
              <a:gd fmla="val 1166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0"/>
          <p:cNvSpPr/>
          <p:nvPr/>
        </p:nvSpPr>
        <p:spPr>
          <a:xfrm>
            <a:off x="1077039" y="3405188"/>
            <a:ext cx="718066" cy="718066"/>
          </a:xfrm>
          <a:prstGeom prst="roundRect">
            <a:avLst>
              <a:gd fmla="val 12732932" name="adj"/>
            </a:avLst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4445" y="3602593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0"/>
          <p:cNvSpPr/>
          <p:nvPr/>
        </p:nvSpPr>
        <p:spPr>
          <a:xfrm>
            <a:off x="1077039" y="4362569"/>
            <a:ext cx="333565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Aumento de Custos</a:t>
            </a:r>
            <a:endParaRPr b="0" i="0" sz="2200" u="none" cap="none" strike="noStrike"/>
          </a:p>
        </p:txBody>
      </p:sp>
      <p:sp>
        <p:nvSpPr>
          <p:cNvPr id="222" name="Google Shape;222;p30"/>
          <p:cNvSpPr/>
          <p:nvPr/>
        </p:nvSpPr>
        <p:spPr>
          <a:xfrm>
            <a:off x="1077039" y="4858107"/>
            <a:ext cx="368010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Desperdícios, retrabalho e processos ineficientes elevam drasticamente os custos operacionais</a:t>
            </a:r>
            <a:endParaRPr b="0" i="0" sz="1850" u="none" cap="none" strike="noStrike"/>
          </a:p>
        </p:txBody>
      </p:sp>
      <p:sp>
        <p:nvSpPr>
          <p:cNvPr id="223" name="Google Shape;223;p30"/>
          <p:cNvSpPr/>
          <p:nvPr/>
        </p:nvSpPr>
        <p:spPr>
          <a:xfrm>
            <a:off x="5235773" y="3165872"/>
            <a:ext cx="4158734" cy="3080623"/>
          </a:xfrm>
          <a:prstGeom prst="roundRect">
            <a:avLst>
              <a:gd fmla="val 1166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0"/>
          <p:cNvSpPr/>
          <p:nvPr/>
        </p:nvSpPr>
        <p:spPr>
          <a:xfrm>
            <a:off x="5475089" y="3405188"/>
            <a:ext cx="718066" cy="718066"/>
          </a:xfrm>
          <a:prstGeom prst="roundRect">
            <a:avLst>
              <a:gd fmla="val 12732932" name="adj"/>
            </a:avLst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5" name="Google Shape;22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2495" y="3602593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0"/>
          <p:cNvSpPr/>
          <p:nvPr/>
        </p:nvSpPr>
        <p:spPr>
          <a:xfrm>
            <a:off x="5475089" y="4362569"/>
            <a:ext cx="3110270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Perda de Agilidade</a:t>
            </a:r>
            <a:endParaRPr b="0" i="0" sz="2200" u="none" cap="none" strike="noStrike"/>
          </a:p>
        </p:txBody>
      </p:sp>
      <p:sp>
        <p:nvSpPr>
          <p:cNvPr id="227" name="Google Shape;227;p30"/>
          <p:cNvSpPr/>
          <p:nvPr/>
        </p:nvSpPr>
        <p:spPr>
          <a:xfrm>
            <a:off x="5475089" y="4858107"/>
            <a:ext cx="368010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Sistemas lentos e manuais impedem resposta rápida às mudanças do mercado</a:t>
            </a:r>
            <a:endParaRPr b="0" i="0" sz="1850" u="none" cap="none" strike="noStrike"/>
          </a:p>
        </p:txBody>
      </p:sp>
      <p:sp>
        <p:nvSpPr>
          <p:cNvPr id="228" name="Google Shape;228;p30"/>
          <p:cNvSpPr/>
          <p:nvPr/>
        </p:nvSpPr>
        <p:spPr>
          <a:xfrm>
            <a:off x="9633823" y="3165872"/>
            <a:ext cx="4158853" cy="3080623"/>
          </a:xfrm>
          <a:prstGeom prst="roundRect">
            <a:avLst>
              <a:gd fmla="val 1166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0"/>
          <p:cNvSpPr/>
          <p:nvPr/>
        </p:nvSpPr>
        <p:spPr>
          <a:xfrm>
            <a:off x="9873139" y="3405188"/>
            <a:ext cx="718066" cy="718066"/>
          </a:xfrm>
          <a:prstGeom prst="roundRect">
            <a:avLst>
              <a:gd fmla="val 12732932" name="adj"/>
            </a:avLst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" name="Google Shape;23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0544" y="3602593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0"/>
          <p:cNvSpPr/>
          <p:nvPr/>
        </p:nvSpPr>
        <p:spPr>
          <a:xfrm>
            <a:off x="9873139" y="4362569"/>
            <a:ext cx="2816185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Quebra de Fluxo</a:t>
            </a:r>
            <a:endParaRPr b="0" i="0" sz="2200" u="none" cap="none" strike="noStrike"/>
          </a:p>
        </p:txBody>
      </p:sp>
      <p:sp>
        <p:nvSpPr>
          <p:cNvPr id="232" name="Google Shape;232;p30"/>
          <p:cNvSpPr/>
          <p:nvPr/>
        </p:nvSpPr>
        <p:spPr>
          <a:xfrm>
            <a:off x="9873139" y="4858107"/>
            <a:ext cx="3680222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Problemas em um ponto da cadeia causam efeito cascata em toda a operação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/>
          <p:nvPr/>
        </p:nvSpPr>
        <p:spPr>
          <a:xfrm>
            <a:off x="837724" y="1053703"/>
            <a:ext cx="12954952" cy="140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Unbounded"/>
              <a:buNone/>
            </a:pPr>
            <a:r>
              <a:rPr b="0" i="0" lang="en-US" sz="44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Conclusão: Caminhos para Superar os Desafios</a:t>
            </a:r>
            <a:endParaRPr b="0" i="0" sz="4400" u="none" cap="none" strike="noStrike"/>
          </a:p>
        </p:txBody>
      </p:sp>
      <p:sp>
        <p:nvSpPr>
          <p:cNvPr id="239" name="Google Shape;239;p31"/>
          <p:cNvSpPr/>
          <p:nvPr/>
        </p:nvSpPr>
        <p:spPr>
          <a:xfrm>
            <a:off x="837730" y="2940480"/>
            <a:ext cx="14376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01</a:t>
            </a:r>
            <a:endParaRPr b="0" i="0" sz="1850" u="none" cap="none" strike="noStrike"/>
          </a:p>
        </p:txBody>
      </p:sp>
      <p:sp>
        <p:nvSpPr>
          <p:cNvPr id="240" name="Google Shape;240;p31"/>
          <p:cNvSpPr/>
          <p:nvPr/>
        </p:nvSpPr>
        <p:spPr>
          <a:xfrm>
            <a:off x="837724" y="3316843"/>
            <a:ext cx="6357818" cy="3048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1"/>
          <p:cNvSpPr/>
          <p:nvPr/>
        </p:nvSpPr>
        <p:spPr>
          <a:xfrm>
            <a:off x="837724" y="3497461"/>
            <a:ext cx="4012287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Implementar Tecnologia</a:t>
            </a:r>
            <a:endParaRPr b="0" i="0" sz="2200" u="none" cap="none" strike="noStrike"/>
          </a:p>
        </p:txBody>
      </p:sp>
      <p:sp>
        <p:nvSpPr>
          <p:cNvPr id="242" name="Google Shape;242;p31"/>
          <p:cNvSpPr/>
          <p:nvPr/>
        </p:nvSpPr>
        <p:spPr>
          <a:xfrm>
            <a:off x="837724" y="3992999"/>
            <a:ext cx="6357818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Sistemas integrados de gestão (ERP/WMS) para visibilidade em tempo real e automação de processos</a:t>
            </a:r>
            <a:endParaRPr b="0" i="0" sz="1850" u="none" cap="none" strike="noStrike"/>
          </a:p>
        </p:txBody>
      </p:sp>
      <p:sp>
        <p:nvSpPr>
          <p:cNvPr id="243" name="Google Shape;243;p31"/>
          <p:cNvSpPr/>
          <p:nvPr/>
        </p:nvSpPr>
        <p:spPr>
          <a:xfrm>
            <a:off x="7434815" y="2940479"/>
            <a:ext cx="12771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02</a:t>
            </a:r>
            <a:endParaRPr b="0" i="0" sz="1850" u="none" cap="none" strike="noStrike"/>
          </a:p>
        </p:txBody>
      </p:sp>
      <p:sp>
        <p:nvSpPr>
          <p:cNvPr id="244" name="Google Shape;244;p31"/>
          <p:cNvSpPr/>
          <p:nvPr/>
        </p:nvSpPr>
        <p:spPr>
          <a:xfrm>
            <a:off x="7434858" y="3316843"/>
            <a:ext cx="6357818" cy="3048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1"/>
          <p:cNvSpPr/>
          <p:nvPr/>
        </p:nvSpPr>
        <p:spPr>
          <a:xfrm>
            <a:off x="7434858" y="3497461"/>
            <a:ext cx="3435310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Fortalecer Parcerias</a:t>
            </a:r>
            <a:endParaRPr b="0" i="0" sz="2200" u="none" cap="none" strike="noStrike"/>
          </a:p>
        </p:txBody>
      </p:sp>
      <p:sp>
        <p:nvSpPr>
          <p:cNvPr id="246" name="Google Shape;246;p31"/>
          <p:cNvSpPr/>
          <p:nvPr/>
        </p:nvSpPr>
        <p:spPr>
          <a:xfrm>
            <a:off x="7434858" y="3992999"/>
            <a:ext cx="6357818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Gestão ativa de fornecedores com KPIs claros, contratos bem estruturados e comunicação regular</a:t>
            </a:r>
            <a:endParaRPr b="0" i="0" sz="1850" u="none" cap="none" strike="noStrike"/>
          </a:p>
        </p:txBody>
      </p:sp>
      <p:sp>
        <p:nvSpPr>
          <p:cNvPr id="247" name="Google Shape;247;p31"/>
          <p:cNvSpPr/>
          <p:nvPr/>
        </p:nvSpPr>
        <p:spPr>
          <a:xfrm>
            <a:off x="837731" y="5177802"/>
            <a:ext cx="15672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03</a:t>
            </a:r>
            <a:endParaRPr b="0" i="0" sz="1850" u="none" cap="none" strike="noStrike"/>
          </a:p>
        </p:txBody>
      </p:sp>
      <p:sp>
        <p:nvSpPr>
          <p:cNvPr id="248" name="Google Shape;248;p31"/>
          <p:cNvSpPr/>
          <p:nvPr/>
        </p:nvSpPr>
        <p:spPr>
          <a:xfrm>
            <a:off x="837724" y="5554147"/>
            <a:ext cx="6357818" cy="3048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1"/>
          <p:cNvSpPr/>
          <p:nvPr/>
        </p:nvSpPr>
        <p:spPr>
          <a:xfrm>
            <a:off x="837724" y="5734764"/>
            <a:ext cx="3068836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Otimizar Logística</a:t>
            </a:r>
            <a:endParaRPr b="0" i="0" sz="2200" u="none" cap="none" strike="noStrike"/>
          </a:p>
        </p:txBody>
      </p:sp>
      <p:sp>
        <p:nvSpPr>
          <p:cNvPr id="250" name="Google Shape;250;p31"/>
          <p:cNvSpPr/>
          <p:nvPr/>
        </p:nvSpPr>
        <p:spPr>
          <a:xfrm>
            <a:off x="837724" y="6230303"/>
            <a:ext cx="6357818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Análise de rotas, consolidação de cargas e redesenho da rede de distribuição para reduzir custos</a:t>
            </a:r>
            <a:endParaRPr b="0" i="0" sz="1850" u="none" cap="none" strike="noStrike"/>
          </a:p>
        </p:txBody>
      </p:sp>
      <p:sp>
        <p:nvSpPr>
          <p:cNvPr id="251" name="Google Shape;251;p31"/>
          <p:cNvSpPr/>
          <p:nvPr/>
        </p:nvSpPr>
        <p:spPr>
          <a:xfrm>
            <a:off x="7434812" y="5177803"/>
            <a:ext cx="14376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Unbounded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04</a:t>
            </a:r>
            <a:endParaRPr b="0" i="0" sz="1850" u="none" cap="none" strike="noStrike"/>
          </a:p>
        </p:txBody>
      </p:sp>
      <p:sp>
        <p:nvSpPr>
          <p:cNvPr id="252" name="Google Shape;252;p31"/>
          <p:cNvSpPr/>
          <p:nvPr/>
        </p:nvSpPr>
        <p:spPr>
          <a:xfrm>
            <a:off x="7434858" y="5554147"/>
            <a:ext cx="6357818" cy="3048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1"/>
          <p:cNvSpPr/>
          <p:nvPr/>
        </p:nvSpPr>
        <p:spPr>
          <a:xfrm>
            <a:off x="7434858" y="5734764"/>
            <a:ext cx="3214092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200"/>
              <a:buFont typeface="Unbounded"/>
              <a:buNone/>
            </a:pPr>
            <a:r>
              <a:rPr b="0" i="0" lang="en-US" sz="220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Integrar Estratégia</a:t>
            </a:r>
            <a:endParaRPr b="0" i="0" sz="2200" u="none" cap="none" strike="noStrike"/>
          </a:p>
        </p:txBody>
      </p:sp>
      <p:sp>
        <p:nvSpPr>
          <p:cNvPr id="254" name="Google Shape;254;p31"/>
          <p:cNvSpPr/>
          <p:nvPr/>
        </p:nvSpPr>
        <p:spPr>
          <a:xfrm>
            <a:off x="7434858" y="6230303"/>
            <a:ext cx="6357818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50"/>
              <a:buFont typeface="Cabin"/>
              <a:buNone/>
            </a:pPr>
            <a:r>
              <a:rPr b="0" i="0" lang="en-US" sz="18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Alinhar processos operacionais com objetivos de negócio e garantir conformidade regulatória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2"/>
          <p:cNvSpPr/>
          <p:nvPr/>
        </p:nvSpPr>
        <p:spPr>
          <a:xfrm>
            <a:off x="752118" y="1049655"/>
            <a:ext cx="8500705" cy="6319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50"/>
              <a:buFont typeface="Unbounded"/>
              <a:buNone/>
            </a:pPr>
            <a:r>
              <a:rPr b="0" i="0" lang="en-US" sz="395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Principais Pontos para Ação</a:t>
            </a:r>
            <a:endParaRPr b="0" i="0" sz="3950" u="none" cap="none" strike="noStrike"/>
          </a:p>
        </p:txBody>
      </p:sp>
      <p:sp>
        <p:nvSpPr>
          <p:cNvPr id="261" name="Google Shape;261;p32"/>
          <p:cNvSpPr/>
          <p:nvPr/>
        </p:nvSpPr>
        <p:spPr>
          <a:xfrm>
            <a:off x="752118" y="2067401"/>
            <a:ext cx="6466642" cy="2025134"/>
          </a:xfrm>
          <a:prstGeom prst="roundRect">
            <a:avLst>
              <a:gd fmla="val 1592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2"/>
          <p:cNvSpPr/>
          <p:nvPr/>
        </p:nvSpPr>
        <p:spPr>
          <a:xfrm>
            <a:off x="966907" y="2282190"/>
            <a:ext cx="644604" cy="644604"/>
          </a:xfrm>
          <a:prstGeom prst="roundRect">
            <a:avLst>
              <a:gd fmla="val 14184035" name="adj"/>
            </a:avLst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3" name="Google Shape;26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191" y="2459355"/>
            <a:ext cx="290036" cy="29003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2"/>
          <p:cNvSpPr/>
          <p:nvPr/>
        </p:nvSpPr>
        <p:spPr>
          <a:xfrm>
            <a:off x="966907" y="3119676"/>
            <a:ext cx="2528292" cy="316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950"/>
              <a:buFont typeface="Unbounded"/>
              <a:buNone/>
            </a:pPr>
            <a:r>
              <a:rPr b="0" i="0" lang="en-US" sz="19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Visibilidade Total</a:t>
            </a:r>
            <a:endParaRPr b="0" i="0" sz="1950" u="none" cap="none" strike="noStrike"/>
          </a:p>
        </p:txBody>
      </p:sp>
      <p:sp>
        <p:nvSpPr>
          <p:cNvPr id="265" name="Google Shape;265;p32"/>
          <p:cNvSpPr/>
          <p:nvPr/>
        </p:nvSpPr>
        <p:spPr>
          <a:xfrm>
            <a:off x="966907" y="3551515"/>
            <a:ext cx="6037064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abin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Controle de estoque em tempo real elimina rupturas e excessos</a:t>
            </a:r>
            <a:endParaRPr b="0" i="0" sz="1650" u="none" cap="none" strike="noStrike"/>
          </a:p>
        </p:txBody>
      </p:sp>
      <p:sp>
        <p:nvSpPr>
          <p:cNvPr id="266" name="Google Shape;266;p32"/>
          <p:cNvSpPr/>
          <p:nvPr/>
        </p:nvSpPr>
        <p:spPr>
          <a:xfrm>
            <a:off x="7411641" y="2067401"/>
            <a:ext cx="6466642" cy="2025134"/>
          </a:xfrm>
          <a:prstGeom prst="roundRect">
            <a:avLst>
              <a:gd fmla="val 1592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2"/>
          <p:cNvSpPr/>
          <p:nvPr/>
        </p:nvSpPr>
        <p:spPr>
          <a:xfrm>
            <a:off x="7626429" y="2282190"/>
            <a:ext cx="644604" cy="644604"/>
          </a:xfrm>
          <a:prstGeom prst="roundRect">
            <a:avLst>
              <a:gd fmla="val 14184035" name="adj"/>
            </a:avLst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8" name="Google Shape;26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03713" y="2459355"/>
            <a:ext cx="290036" cy="290036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2"/>
          <p:cNvSpPr/>
          <p:nvPr/>
        </p:nvSpPr>
        <p:spPr>
          <a:xfrm>
            <a:off x="7626429" y="3119676"/>
            <a:ext cx="2616756" cy="316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950"/>
              <a:buFont typeface="Unbounded"/>
              <a:buNone/>
            </a:pPr>
            <a:r>
              <a:rPr b="0" i="0" lang="en-US" sz="19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Parcerias Sólidas</a:t>
            </a:r>
            <a:endParaRPr b="0" i="0" sz="1950" u="none" cap="none" strike="noStrike"/>
          </a:p>
        </p:txBody>
      </p:sp>
      <p:sp>
        <p:nvSpPr>
          <p:cNvPr id="270" name="Google Shape;270;p32"/>
          <p:cNvSpPr/>
          <p:nvPr/>
        </p:nvSpPr>
        <p:spPr>
          <a:xfrm>
            <a:off x="7626429" y="3551515"/>
            <a:ext cx="6037064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abin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Fornecedores confiáveis garantem qualidade e pontualidade</a:t>
            </a:r>
            <a:endParaRPr b="0" i="0" sz="1650" u="none" cap="none" strike="noStrike"/>
          </a:p>
        </p:txBody>
      </p:sp>
      <p:sp>
        <p:nvSpPr>
          <p:cNvPr id="271" name="Google Shape;271;p32"/>
          <p:cNvSpPr/>
          <p:nvPr/>
        </p:nvSpPr>
        <p:spPr>
          <a:xfrm>
            <a:off x="752118" y="4285417"/>
            <a:ext cx="6466642" cy="2025134"/>
          </a:xfrm>
          <a:prstGeom prst="roundRect">
            <a:avLst>
              <a:gd fmla="val 1592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2"/>
          <p:cNvSpPr/>
          <p:nvPr/>
        </p:nvSpPr>
        <p:spPr>
          <a:xfrm>
            <a:off x="966907" y="4500205"/>
            <a:ext cx="644604" cy="644604"/>
          </a:xfrm>
          <a:prstGeom prst="roundRect">
            <a:avLst>
              <a:gd fmla="val 14184035" name="adj"/>
            </a:avLst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3" name="Google Shape;273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4191" y="4677370"/>
            <a:ext cx="290036" cy="29003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2"/>
          <p:cNvSpPr/>
          <p:nvPr/>
        </p:nvSpPr>
        <p:spPr>
          <a:xfrm>
            <a:off x="966907" y="5337691"/>
            <a:ext cx="3452455" cy="316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950"/>
              <a:buFont typeface="Unbounded"/>
              <a:buNone/>
            </a:pPr>
            <a:r>
              <a:rPr b="0" i="0" lang="en-US" sz="19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Automação Inteligente</a:t>
            </a:r>
            <a:endParaRPr b="0" i="0" sz="1950" u="none" cap="none" strike="noStrike"/>
          </a:p>
        </p:txBody>
      </p:sp>
      <p:sp>
        <p:nvSpPr>
          <p:cNvPr id="275" name="Google Shape;275;p32"/>
          <p:cNvSpPr/>
          <p:nvPr/>
        </p:nvSpPr>
        <p:spPr>
          <a:xfrm>
            <a:off x="966907" y="5769531"/>
            <a:ext cx="6037064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abin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Tecnologia reduz erros e acelera processos operacionais</a:t>
            </a:r>
            <a:endParaRPr b="0" i="0" sz="1650" u="none" cap="none" strike="noStrike"/>
          </a:p>
        </p:txBody>
      </p:sp>
      <p:sp>
        <p:nvSpPr>
          <p:cNvPr id="276" name="Google Shape;276;p32"/>
          <p:cNvSpPr/>
          <p:nvPr/>
        </p:nvSpPr>
        <p:spPr>
          <a:xfrm>
            <a:off x="7411641" y="4285417"/>
            <a:ext cx="6466642" cy="2025134"/>
          </a:xfrm>
          <a:prstGeom prst="roundRect">
            <a:avLst>
              <a:gd fmla="val 1592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2"/>
          <p:cNvSpPr/>
          <p:nvPr/>
        </p:nvSpPr>
        <p:spPr>
          <a:xfrm>
            <a:off x="7626429" y="4500205"/>
            <a:ext cx="644604" cy="644604"/>
          </a:xfrm>
          <a:prstGeom prst="roundRect">
            <a:avLst>
              <a:gd fmla="val 14184035" name="adj"/>
            </a:avLst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8" name="Google Shape;278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03713" y="4677370"/>
            <a:ext cx="290036" cy="290036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2"/>
          <p:cNvSpPr/>
          <p:nvPr/>
        </p:nvSpPr>
        <p:spPr>
          <a:xfrm>
            <a:off x="7626429" y="5337691"/>
            <a:ext cx="3196828" cy="316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950"/>
              <a:buFont typeface="Unbounded"/>
              <a:buNone/>
            </a:pPr>
            <a:r>
              <a:rPr b="0" i="0" lang="en-US" sz="1950" u="none" cap="none" strike="noStrike">
                <a:solidFill>
                  <a:srgbClr val="CAD6DE"/>
                </a:solidFill>
                <a:latin typeface="Unbounded"/>
                <a:ea typeface="Unbounded"/>
                <a:cs typeface="Unbounded"/>
                <a:sym typeface="Unbounded"/>
              </a:rPr>
              <a:t>Otimização Contínua</a:t>
            </a:r>
            <a:endParaRPr b="0" i="0" sz="1950" u="none" cap="none" strike="noStrike"/>
          </a:p>
        </p:txBody>
      </p:sp>
      <p:sp>
        <p:nvSpPr>
          <p:cNvPr id="280" name="Google Shape;280;p32"/>
          <p:cNvSpPr/>
          <p:nvPr/>
        </p:nvSpPr>
        <p:spPr>
          <a:xfrm>
            <a:off x="7626429" y="5769531"/>
            <a:ext cx="6037064" cy="3262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abin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Análise constante de custos e processos para melhorias graduais</a:t>
            </a:r>
            <a:endParaRPr b="0" i="0" sz="1650" u="none" cap="none" strike="noStrike"/>
          </a:p>
        </p:txBody>
      </p:sp>
      <p:sp>
        <p:nvSpPr>
          <p:cNvPr id="281" name="Google Shape;281;p32"/>
          <p:cNvSpPr/>
          <p:nvPr/>
        </p:nvSpPr>
        <p:spPr>
          <a:xfrm>
            <a:off x="752118" y="6527483"/>
            <a:ext cx="13126164" cy="652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50"/>
              <a:buFont typeface="Cabin"/>
              <a:buNone/>
            </a:pP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 gestão eficiente de suprimentos requer </a:t>
            </a:r>
            <a:r>
              <a:rPr b="1" i="0" lang="en-US" sz="1650" u="none" cap="none" strike="noStrike">
                <a:solidFill>
                  <a:srgbClr val="0A988B"/>
                </a:solidFill>
                <a:latin typeface="Cabin"/>
                <a:ea typeface="Cabin"/>
                <a:cs typeface="Cabin"/>
                <a:sym typeface="Cabin"/>
              </a:rPr>
              <a:t>planejamento estratégico</a:t>
            </a: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, </a:t>
            </a:r>
            <a:r>
              <a:rPr b="1" i="0" lang="en-US" sz="1650" u="none" cap="none" strike="noStrike">
                <a:solidFill>
                  <a:srgbClr val="0A988B"/>
                </a:solidFill>
                <a:latin typeface="Cabin"/>
                <a:ea typeface="Cabin"/>
                <a:cs typeface="Cabin"/>
                <a:sym typeface="Cabin"/>
              </a:rPr>
              <a:t>investimento em tecnologia</a:t>
            </a: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e </a:t>
            </a:r>
            <a:r>
              <a:rPr b="1" i="0" lang="en-US" sz="1650" u="none" cap="none" strike="noStrike">
                <a:solidFill>
                  <a:srgbClr val="0A988B"/>
                </a:solidFill>
                <a:latin typeface="Cabin"/>
                <a:ea typeface="Cabin"/>
                <a:cs typeface="Cabin"/>
                <a:sym typeface="Cabin"/>
              </a:rPr>
              <a:t>colaboração com fornecedores</a:t>
            </a:r>
            <a:r>
              <a:rPr b="0" i="0" lang="en-US" sz="16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 para alcançar excelência operacional.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